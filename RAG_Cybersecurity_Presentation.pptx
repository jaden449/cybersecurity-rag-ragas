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5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Aggregate Score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Naive RAG</c:v>
                </c:pt>
                <c:pt idx="1">
                  <c:v>Advanced RAG</c:v>
                </c:pt>
                <c:pt idx="2">
                  <c:v>Modular RAG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0.70599999999999996</c:v>
                </c:pt>
                <c:pt idx="1">
                  <c:v>0.78700000000000003</c:v>
                </c:pt>
                <c:pt idx="2">
                  <c:v>0.77500000000000002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CA-4310-A76B-B5031204EA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Context Relevance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Naive RAG</c:v>
                </c:pt>
                <c:pt idx="1">
                  <c:v>Advanced RAG</c:v>
                </c:pt>
                <c:pt idx="2">
                  <c:v>Modular RAG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0.69</c:v>
                </c:pt>
                <c:pt idx="1">
                  <c:v>0.94899999999999995</c:v>
                </c:pt>
                <c:pt idx="2">
                  <c:v>0.92900000000000005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CA-4310-A76B-B5031204EA3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Faithfulness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Naive RAG</c:v>
                </c:pt>
                <c:pt idx="1">
                  <c:v>Advanced RAG</c:v>
                </c:pt>
                <c:pt idx="2">
                  <c:v>Modular RAG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0.67</c:v>
                </c:pt>
                <c:pt idx="1">
                  <c:v>0.65900000000000003</c:v>
                </c:pt>
                <c:pt idx="2">
                  <c:v>0.64600000000000002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BCA-4310-A76B-B5031204EA3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Answer Relevance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Naive RAG</c:v>
                </c:pt>
                <c:pt idx="1">
                  <c:v>Advanced RAG</c:v>
                </c:pt>
                <c:pt idx="2">
                  <c:v>Modular RAG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0.75900000000000001</c:v>
                </c:pt>
                <c:pt idx="1">
                  <c:v>0.752</c:v>
                </c:pt>
                <c:pt idx="2">
                  <c:v>0.749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BCA-4310-A76B-B5031204EA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1B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324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7020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ADVANCED AI 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8265" y="1251616"/>
            <a:ext cx="712731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Systems for Cybersecurity</a:t>
            </a:r>
            <a:r>
              <a:rPr lang="en-US" sz="28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Advisory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94570" y="27203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RAGAS Evaluation · Architectural Comparison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3567" y="4318786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r>
              <a:rPr lang="en-US" sz="1000" b="1" dirty="0">
                <a:solidFill>
                  <a:srgbClr val="FFFFFF"/>
                </a:solidFill>
              </a:rPr>
              <a:t>★ Multi-variant comparison = my extra contribution</a:t>
            </a:r>
            <a:endParaRPr lang="en-US" sz="1000" dirty="0"/>
          </a:p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73552"/>
            <a:ext cx="822960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Jaden O'Neil Machado  |  Adelaide University  |  A1992876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96251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Topics in Artificial Intelligence and Machine Learning</a:t>
            </a:r>
            <a:endParaRPr lang="en-US" sz="1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20840" y="411480"/>
            <a:ext cx="2103120" cy="1188720"/>
          </a:xfrm>
          <a:prstGeom prst="rect">
            <a:avLst/>
          </a:prstGeom>
          <a:solidFill>
            <a:srgbClr val="132438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5029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8,046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720840" y="1051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Entries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0840" y="1920240"/>
            <a:ext cx="2103120" cy="1188720"/>
          </a:xfrm>
          <a:prstGeom prst="rect">
            <a:avLst/>
          </a:prstGeom>
          <a:solidFill>
            <a:srgbClr val="132438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20116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720840" y="2560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Queries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3429000"/>
            <a:ext cx="2103120" cy="1188720"/>
          </a:xfrm>
          <a:prstGeom prst="rect">
            <a:avLst/>
          </a:prstGeom>
          <a:solidFill>
            <a:srgbClr val="132438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3520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720840" y="4069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Variants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Goal &amp; Research Questions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2608" y="841248"/>
            <a:ext cx="4160520" cy="1508760"/>
          </a:xfrm>
          <a:prstGeom prst="rect">
            <a:avLst/>
          </a:prstGeom>
          <a:solidFill>
            <a:srgbClr val="132438"/>
          </a:solidFill>
          <a:ln w="1905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961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= #1 breach factor
</a:t>
            </a: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$2.9B BEC losses in 2023  |  36% of all incidents
Practitioners need fast, accurate guidance from NIST,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CISA, ISO 27001, MITRE ATT&amp;CK — but manual synthesis is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error-prone, and inconsistent.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841248"/>
            <a:ext cx="4160520" cy="1508760"/>
          </a:xfrm>
          <a:prstGeom prst="rect">
            <a:avLst/>
          </a:prstGeom>
          <a:solidFill>
            <a:srgbClr val="132438"/>
          </a:solidFill>
          <a:ln w="190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82312" y="8961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Our Solution: RAG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36592" y="1261872"/>
            <a:ext cx="694944" cy="438912"/>
          </a:xfrm>
          <a:prstGeom prst="roundRect">
            <a:avLst>
              <a:gd name="adj" fmla="val 125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261872"/>
            <a:ext cx="694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431536" y="1261872"/>
            <a:ext cx="100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32120" y="1261872"/>
            <a:ext cx="694944" cy="438912"/>
          </a:xfrm>
          <a:prstGeom prst="roundRect">
            <a:avLst>
              <a:gd name="adj" fmla="val 125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261872"/>
            <a:ext cx="694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the data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227064" y="1261872"/>
            <a:ext cx="100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27648" y="1261872"/>
            <a:ext cx="694944" cy="438912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261872"/>
            <a:ext cx="694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022592" y="1261872"/>
            <a:ext cx="100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23176" y="1261872"/>
            <a:ext cx="694944" cy="438912"/>
          </a:xfrm>
          <a:prstGeom prst="roundRect">
            <a:avLst>
              <a:gd name="adj" fmla="val 12500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r>
              <a:rPr lang="en-US" sz="800" dirty="0">
                <a:solidFill>
                  <a:schemeClr val="bg1"/>
                </a:solidFill>
              </a:rPr>
              <a:t>  </a:t>
            </a:r>
            <a:r>
              <a:rPr lang="en-US" sz="800" b="1" dirty="0">
                <a:solidFill>
                  <a:schemeClr val="bg1"/>
                </a:solidFill>
              </a:rPr>
              <a:t>Retrieve the chunks</a:t>
            </a:r>
            <a:endParaRPr lang="en-IN" sz="800" b="1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23176" y="1261872"/>
            <a:ext cx="694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818120" y="1261872"/>
            <a:ext cx="100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18704" y="1261872"/>
            <a:ext cx="694944" cy="438912"/>
          </a:xfrm>
          <a:prstGeom prst="roundRect">
            <a:avLst>
              <a:gd name="adj" fmla="val 12500"/>
            </a:avLst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18704" y="1261872"/>
            <a:ext cx="694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82312" y="17830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LLM output in real standards  →  No hallucination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82312" y="202996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3 source-cited, actionable guidelines per query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249631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92608" y="2907792"/>
            <a:ext cx="8531352" cy="804672"/>
          </a:xfrm>
          <a:prstGeom prst="rect">
            <a:avLst/>
          </a:prstGeom>
          <a:solidFill>
            <a:srgbClr val="132438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4048" y="2980944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2980944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RQ1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78992" y="2944368"/>
            <a:ext cx="7635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RAG variant — Naive, Advanced, or Modular — achieves the highest context relevance, faithfulness, and answer relevance, and by how much?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92608" y="3895344"/>
            <a:ext cx="8531352" cy="804672"/>
          </a:xfrm>
          <a:prstGeom prst="rect">
            <a:avLst/>
          </a:prstGeom>
          <a:solidFill>
            <a:srgbClr val="132438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4048" y="3968496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96849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RQ2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78992" y="3931920"/>
            <a:ext cx="7635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performance differences statistically significant, and which specific retrieval design choices drive those differences?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Base: 8,046 Entries from 5 Sources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Phishing Detection, Email Security &amp; Incident Response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078992"/>
            <a:ext cx="1627632" cy="3337560"/>
          </a:xfrm>
          <a:prstGeom prst="rect">
            <a:avLst/>
          </a:prstGeom>
          <a:solidFill>
            <a:srgbClr val="132438"/>
          </a:solidFill>
          <a:ln w="190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" y="1170432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29768" y="1801368"/>
            <a:ext cx="1353312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865376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Expert-Curated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148132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800-61r2, CISA,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27001, MITRE ATT&amp;CK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2336" y="3675888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36758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Highest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29968" y="1078992"/>
            <a:ext cx="1627632" cy="3337560"/>
          </a:xfrm>
          <a:prstGeom prst="rect">
            <a:avLst/>
          </a:prstGeom>
          <a:solidFill>
            <a:srgbClr val="132438"/>
          </a:solidFill>
          <a:ln w="19050">
            <a:solidFill>
              <a:srgbClr val="14B8A6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29968" y="1170432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2167128" y="1801368"/>
            <a:ext cx="1353312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29968" y="1865376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SecQA v1+v2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2286000"/>
            <a:ext cx="148132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academic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QA benchmark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CC-BY licensed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139696" y="3675888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39696" y="36758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Very High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67328" y="1078992"/>
            <a:ext cx="1627632" cy="3337560"/>
          </a:xfrm>
          <a:prstGeom prst="rect">
            <a:avLst/>
          </a:prstGeom>
          <a:solidFill>
            <a:srgbClr val="132438"/>
          </a:solidFill>
          <a:ln w="1905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67328" y="1170432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2,395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3904488" y="1801368"/>
            <a:ext cx="1353312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67328" y="1865376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AlicanKiraz0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0" y="2286000"/>
            <a:ext cx="148132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instruction-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pairs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77056" y="3675888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36758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04688" y="1078992"/>
            <a:ext cx="1627632" cy="3337560"/>
          </a:xfrm>
          <a:prstGeom prst="rect">
            <a:avLst/>
          </a:prstGeom>
          <a:solidFill>
            <a:srgbClr val="132438"/>
          </a:solidFill>
          <a:ln w="19050">
            <a:solidFill>
              <a:srgbClr val="0E74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04688" y="1170432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1,562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5641848" y="1801368"/>
            <a:ext cx="1353312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04688" y="1865376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Rowden CybersecQAA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77840" y="2286000"/>
            <a:ext cx="148132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Expert-validated advisory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pairs  |  MIT licence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parser required ★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14416" y="3675888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14416" y="36758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269480" y="1084002"/>
            <a:ext cx="1627632" cy="3337560"/>
          </a:xfrm>
          <a:prstGeom prst="rect">
            <a:avLst/>
          </a:prstGeom>
          <a:solidFill>
            <a:srgbClr val="132438"/>
          </a:solidFill>
          <a:ln w="19050">
            <a:solidFill>
              <a:srgbClr val="155E7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242048" y="1170432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3,750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7379208" y="1801368"/>
            <a:ext cx="1353312" cy="0"/>
          </a:xfrm>
          <a:prstGeom prst="line">
            <a:avLst/>
          </a:prstGeom>
          <a:noFill/>
          <a:ln w="12700">
            <a:solidFill>
              <a:srgbClr val="155E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42048" y="1865376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Augmentation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0" y="2286000"/>
            <a:ext cx="148132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Template-generated from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NIST/CISA/ISO text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cybersecurity topics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351776" y="3675888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51776" y="36758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Standards-grounded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92608" y="455371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Rowden dataset had a schema bug (answers inside nested 'vars' dict) — fixed with a custom parser to unlock 1,562 entries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89941" y="371835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04471" y="38191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TOTAL: 8,046 entries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58000" y="15819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RAG Pipeline Architectures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LLM · Same prompt · Same temperature — only retrieval differs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29000" y="960120"/>
            <a:ext cx="2286000" cy="347472"/>
          </a:xfrm>
          <a:prstGeom prst="rect">
            <a:avLst/>
          </a:prstGeom>
          <a:solidFill>
            <a:srgbClr val="1A2F45"/>
          </a:solidFill>
          <a:ln w="12700">
            <a:solidFill>
              <a:srgbClr val="94A3B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29000" y="9601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Query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0897" y="96012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3" y="979097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NAIVE RAG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1426464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3383280" y="14173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ADVANCED RAG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55663" y="973836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999953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MODULAR RAG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142646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499616" y="1307592"/>
            <a:ext cx="0" cy="10972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62856" y="1307592"/>
            <a:ext cx="0" cy="10972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26096" y="1307592"/>
            <a:ext cx="0" cy="10972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6617" y="1700784"/>
            <a:ext cx="2286000" cy="384048"/>
          </a:xfrm>
          <a:prstGeom prst="rect">
            <a:avLst/>
          </a:prstGeom>
          <a:solidFill>
            <a:srgbClr val="0D5F7A"/>
          </a:solidFill>
          <a:ln w="10160">
            <a:solidFill>
              <a:srgbClr val="0E74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356617" y="1721953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Bi-Encoder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(SBERT)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 flipV="1">
            <a:off x="1499616" y="2131805"/>
            <a:ext cx="0" cy="282211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409570"/>
            <a:ext cx="2286000" cy="384048"/>
          </a:xfrm>
          <a:prstGeom prst="rect">
            <a:avLst/>
          </a:prstGeom>
          <a:solidFill>
            <a:srgbClr val="0D5F7A"/>
          </a:solidFill>
          <a:ln w="10160">
            <a:solidFill>
              <a:srgbClr val="0E74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2395917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Top-3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499616" y="2820298"/>
            <a:ext cx="0" cy="109728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956706"/>
            <a:ext cx="2286000" cy="384048"/>
          </a:xfrm>
          <a:prstGeom prst="rect">
            <a:avLst/>
          </a:prstGeom>
          <a:solidFill>
            <a:srgbClr val="065F46"/>
          </a:solidFill>
          <a:ln w="10160">
            <a:solidFill>
              <a:srgbClr val="0E74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296766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499616" y="3401568"/>
            <a:ext cx="0" cy="109728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511296"/>
            <a:ext cx="2286000" cy="384048"/>
          </a:xfrm>
          <a:prstGeom prst="rect">
            <a:avLst/>
          </a:prstGeom>
          <a:solidFill>
            <a:srgbClr val="92400E"/>
          </a:solidFill>
          <a:ln w="10160">
            <a:solidFill>
              <a:srgbClr val="0E74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35112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Guidelines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29000" y="2029968"/>
            <a:ext cx="2286000" cy="384048"/>
          </a:xfrm>
          <a:prstGeom prst="rect">
            <a:avLst/>
          </a:prstGeom>
          <a:solidFill>
            <a:srgbClr val="0D5F7A"/>
          </a:solidFill>
          <a:ln w="1016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429000" y="20299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Bi-Encoder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(SBERT)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62856" y="2414016"/>
            <a:ext cx="0" cy="10972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29000" y="2523744"/>
            <a:ext cx="2286000" cy="384048"/>
          </a:xfrm>
          <a:prstGeom prst="rect">
            <a:avLst/>
          </a:prstGeom>
          <a:solidFill>
            <a:srgbClr val="0D5F7A"/>
          </a:solidFill>
          <a:ln w="1016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429000" y="25237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Top-20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62856" y="2907792"/>
            <a:ext cx="0" cy="10972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29000" y="3017520"/>
            <a:ext cx="2286000" cy="384048"/>
          </a:xfrm>
          <a:prstGeom prst="rect">
            <a:avLst/>
          </a:prstGeom>
          <a:solidFill>
            <a:srgbClr val="5B21B6"/>
          </a:solidFill>
          <a:ln w="1016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429000" y="3017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62856" y="3401568"/>
            <a:ext cx="0" cy="10972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29000" y="3511296"/>
            <a:ext cx="2286000" cy="384048"/>
          </a:xfrm>
          <a:prstGeom prst="rect">
            <a:avLst/>
          </a:prstGeom>
          <a:solidFill>
            <a:srgbClr val="1E3A5F"/>
          </a:solidFill>
          <a:ln w="1016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429000" y="35112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Chunks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62856" y="3895344"/>
            <a:ext cx="0" cy="10972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29000" y="4005072"/>
            <a:ext cx="2286000" cy="384048"/>
          </a:xfrm>
          <a:prstGeom prst="rect">
            <a:avLst/>
          </a:prstGeom>
          <a:solidFill>
            <a:srgbClr val="065F46"/>
          </a:solidFill>
          <a:ln w="1016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429000" y="40050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62856" y="4389120"/>
            <a:ext cx="0" cy="10972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29000" y="4498848"/>
            <a:ext cx="2286000" cy="384048"/>
          </a:xfrm>
          <a:prstGeom prst="rect">
            <a:avLst/>
          </a:prstGeom>
          <a:solidFill>
            <a:srgbClr val="92400E"/>
          </a:solidFill>
          <a:ln w="1016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429000" y="44988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Guidelines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492240" y="1687883"/>
            <a:ext cx="2286000" cy="384048"/>
          </a:xfrm>
          <a:prstGeom prst="rect">
            <a:avLst/>
          </a:prstGeom>
          <a:solidFill>
            <a:srgbClr val="92400E"/>
          </a:solidFill>
          <a:ln w="1016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501383" y="1692893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Expansion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635240" y="2076941"/>
            <a:ext cx="0" cy="109728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92240" y="2204768"/>
            <a:ext cx="2286000" cy="384048"/>
          </a:xfrm>
          <a:prstGeom prst="rect">
            <a:avLst/>
          </a:prstGeom>
          <a:solidFill>
            <a:srgbClr val="0D5F7A"/>
          </a:solidFill>
          <a:ln w="1016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492240" y="2203893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Top-30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BM25 Top-30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632985" y="2588816"/>
            <a:ext cx="0" cy="109728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01383" y="2715768"/>
            <a:ext cx="2286000" cy="384048"/>
          </a:xfrm>
          <a:prstGeom prst="rect">
            <a:avLst/>
          </a:prstGeom>
          <a:solidFill>
            <a:srgbClr val="7C2D12"/>
          </a:solidFill>
          <a:ln w="1016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501383" y="273800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(k=60)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623841" y="3122050"/>
            <a:ext cx="0" cy="109728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501383" y="3249783"/>
            <a:ext cx="2286000" cy="384048"/>
          </a:xfrm>
          <a:prstGeom prst="rect">
            <a:avLst/>
          </a:prstGeom>
          <a:solidFill>
            <a:srgbClr val="5B21B6"/>
          </a:solidFill>
          <a:ln w="1016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501383" y="32644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621586" y="3633831"/>
            <a:ext cx="2255" cy="109728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501383" y="3760376"/>
            <a:ext cx="2286000" cy="384048"/>
          </a:xfrm>
          <a:prstGeom prst="rect">
            <a:avLst/>
          </a:prstGeom>
          <a:solidFill>
            <a:srgbClr val="1E3A5F"/>
          </a:solidFill>
          <a:ln w="1016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492240" y="376759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Chunks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626096" y="4151642"/>
            <a:ext cx="0" cy="109728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83096" y="4272455"/>
            <a:ext cx="2286000" cy="384048"/>
          </a:xfrm>
          <a:prstGeom prst="rect">
            <a:avLst/>
          </a:prstGeom>
          <a:solidFill>
            <a:srgbClr val="065F46"/>
          </a:solidFill>
          <a:ln w="1016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501383" y="4285405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626096" y="4669453"/>
            <a:ext cx="0" cy="109728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501383" y="4757872"/>
            <a:ext cx="2286000" cy="384048"/>
          </a:xfrm>
          <a:prstGeom prst="rect">
            <a:avLst/>
          </a:prstGeom>
          <a:solidFill>
            <a:srgbClr val="92400E"/>
          </a:solidFill>
          <a:ln w="1016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6" name="Text 64"/>
          <p:cNvSpPr/>
          <p:nvPr/>
        </p:nvSpPr>
        <p:spPr>
          <a:xfrm>
            <a:off x="6483096" y="479891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Guidelines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1499616" y="1405295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62856" y="1755648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626096" y="1405295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2FEA57E-83BB-D9A0-68ED-E53883A72A3E}"/>
              </a:ext>
            </a:extLst>
          </p:cNvPr>
          <p:cNvCxnSpPr>
            <a:stCxn id="6" idx="3"/>
            <a:endCxn id="13" idx="1"/>
          </p:cNvCxnSpPr>
          <p:nvPr/>
        </p:nvCxnSpPr>
        <p:spPr>
          <a:xfrm>
            <a:off x="5715000" y="1133856"/>
            <a:ext cx="740663" cy="4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5ACE27-4EAD-A3F6-FF24-A10AD986967D}"/>
              </a:ext>
            </a:extLst>
          </p:cNvPr>
          <p:cNvCxnSpPr>
            <a:cxnSpLocks/>
            <a:stCxn id="5" idx="1"/>
            <a:endCxn id="8" idx="3"/>
          </p:cNvCxnSpPr>
          <p:nvPr/>
        </p:nvCxnSpPr>
        <p:spPr>
          <a:xfrm flipH="1">
            <a:off x="2706623" y="1133856"/>
            <a:ext cx="722377" cy="98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Processing, Embedding &amp; LLM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2608" y="749808"/>
            <a:ext cx="2743200" cy="2103120"/>
          </a:xfrm>
          <a:prstGeom prst="rect">
            <a:avLst/>
          </a:prstGeom>
          <a:solidFill>
            <a:srgbClr val="132438"/>
          </a:solidFill>
          <a:ln w="15240">
            <a:solidFill>
              <a:srgbClr val="14B8A6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229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Chunking Strategy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chunk_size = 512 chars
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chunk_overlap = 64 chars
Max 512, mean 358
Splitter respects sentence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— sizes vary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18688" y="749808"/>
            <a:ext cx="2743200" cy="2103120"/>
          </a:xfrm>
          <a:prstGeom prst="rect">
            <a:avLst/>
          </a:prstGeom>
          <a:solidFill>
            <a:srgbClr val="132438"/>
          </a:solidFill>
          <a:ln w="1524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18688" y="74066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Embeddings &amp; Index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18688" y="1131413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all-mpnet-base-v2
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768-dim  |  MTEB: 57.8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IndexFlatIP
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 |  Exact cosine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1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b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index (Modular RAG)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44768" y="749808"/>
            <a:ext cx="2743200" cy="2103120"/>
          </a:xfrm>
          <a:prstGeom prst="rect">
            <a:avLst/>
          </a:prstGeom>
          <a:solidFill>
            <a:srgbClr val="132438"/>
          </a:solidFill>
          <a:ln w="1524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8229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LLM: Mistral-7B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118872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NF4 quantisation
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 GB → ~4.5 GB VRAM
✓ 32k context window
✓ Best instruction-following
✓ Apache 2.0 licence
✗ Mixtral: 80GB (too big)
✗ Llama-3: 8k ctx (too short)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" y="2999232"/>
            <a:ext cx="8595360" cy="1691640"/>
          </a:xfrm>
          <a:prstGeom prst="rect">
            <a:avLst/>
          </a:prstGeom>
          <a:solidFill>
            <a:srgbClr val="13243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07238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8321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Persona: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expert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---CONTEXT START/END--- markers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numbered, source-cited guidelines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T=0.1 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Framework: RAGAS-Aligned Metrics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practitioner queries  ·  Reference-free  ·  No human-annotated ground truth required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2608" y="1005840"/>
            <a:ext cx="8595360" cy="1170432"/>
          </a:xfrm>
          <a:prstGeom prst="rect">
            <a:avLst/>
          </a:prstGeom>
          <a:solidFill>
            <a:srgbClr val="132438"/>
          </a:solidFill>
          <a:ln w="1905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15568"/>
            <a:ext cx="685800" cy="6858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Relevance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41732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relevant are the retrieved chunks to the query given by the user?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 = clip(0.8 × cos_sim + 0.2 × diversity, 0, 1)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2608" y="2304288"/>
            <a:ext cx="8595360" cy="1170432"/>
          </a:xfrm>
          <a:prstGeom prst="rect">
            <a:avLst/>
          </a:prstGeom>
          <a:solidFill>
            <a:srgbClr val="132438"/>
          </a:solidFill>
          <a:ln w="1905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414016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41401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395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71576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relevant or factual is the generated content to the retrieved chunks 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299008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clip(0.3 × ROUGE-L + 0.2 × ROUGE-1 + 0.5 × max_sem_sim, 0, 1)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2608" y="3602736"/>
            <a:ext cx="8595360" cy="1170432"/>
          </a:xfrm>
          <a:prstGeom prst="rect">
            <a:avLst/>
          </a:prstGeom>
          <a:solidFill>
            <a:srgbClr val="132438"/>
          </a:solidFill>
          <a:ln w="190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712464"/>
            <a:ext cx="685800" cy="685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71246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69417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401421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relevant is the generated content to the query given by the user 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428853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 = clip(0.8 × cos(query, guideline) + 0.2 × completeness, 0, 1)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92608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= unweighted mean of CR + F + AR  ·  Statistical testing: pairwise t-tests at α = 0.05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RAGAS Evaluation Across 100 Queries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2608" y="713232"/>
            <a:ext cx="2029968" cy="1280160"/>
          </a:xfrm>
          <a:prstGeom prst="rect">
            <a:avLst/>
          </a:prstGeom>
          <a:solidFill>
            <a:srgbClr val="132438"/>
          </a:solidFill>
          <a:ln w="190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92608" y="777240"/>
            <a:ext cx="20299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92608" y="138988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RAG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Score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92608" y="1737360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87168" y="713232"/>
            <a:ext cx="2029968" cy="1280160"/>
          </a:xfrm>
          <a:prstGeom prst="rect">
            <a:avLst/>
          </a:prstGeom>
          <a:solidFill>
            <a:srgbClr val="132438"/>
          </a:solidFill>
          <a:ln w="19050">
            <a:solidFill>
              <a:srgbClr val="14B8A6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87168" y="777240"/>
            <a:ext cx="20299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87168" y="138988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RAG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Score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87168" y="1737360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 |  p=0.608 (n.s.)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81728" y="713232"/>
            <a:ext cx="2029968" cy="1280160"/>
          </a:xfrm>
          <a:prstGeom prst="rect">
            <a:avLst/>
          </a:prstGeom>
          <a:solidFill>
            <a:srgbClr val="132438"/>
          </a:solidFill>
          <a:ln w="19050">
            <a:solidFill>
              <a:srgbClr val="0E74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81728" y="777240"/>
            <a:ext cx="20299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81728" y="138988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RAG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Score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81728" y="1737360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76288" y="713232"/>
            <a:ext cx="2029968" cy="1280160"/>
          </a:xfrm>
          <a:prstGeom prst="rect">
            <a:avLst/>
          </a:prstGeom>
          <a:solidFill>
            <a:srgbClr val="132438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76288" y="777240"/>
            <a:ext cx="20299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37.6%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76288" y="138988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improvement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 vs Naive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76288" y="1737360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p&lt;0.001 ***</a:t>
            </a:r>
            <a:endParaRPr lang="en-US" sz="85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292608" y="2084832"/>
          <a:ext cx="53035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5806440" y="2084832"/>
            <a:ext cx="3035808" cy="2834640"/>
          </a:xfrm>
          <a:prstGeom prst="rect">
            <a:avLst/>
          </a:prstGeom>
          <a:solidFill>
            <a:srgbClr val="13243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925312" y="2157984"/>
            <a:ext cx="2798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Significance (t-tests)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852160" y="2542032"/>
            <a:ext cx="969264" cy="457200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52160" y="2542032"/>
            <a:ext cx="969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839712" y="2542032"/>
            <a:ext cx="969264" cy="457200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39712" y="2542032"/>
            <a:ext cx="969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827264" y="2542032"/>
            <a:ext cx="969264" cy="457200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27264" y="2542032"/>
            <a:ext cx="969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52160" y="3072384"/>
            <a:ext cx="969264" cy="457200"/>
          </a:xfrm>
          <a:prstGeom prst="rect">
            <a:avLst/>
          </a:prstGeom>
          <a:solidFill>
            <a:srgbClr val="132438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52160" y="3072384"/>
            <a:ext cx="969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 vs Naive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839712" y="3072384"/>
            <a:ext cx="969264" cy="457200"/>
          </a:xfrm>
          <a:prstGeom prst="rect">
            <a:avLst/>
          </a:prstGeom>
          <a:solidFill>
            <a:srgbClr val="132438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39712" y="3072384"/>
            <a:ext cx="969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&lt;0.001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827264" y="3072384"/>
            <a:ext cx="969264" cy="457200"/>
          </a:xfrm>
          <a:prstGeom prst="rect">
            <a:avLst/>
          </a:prstGeom>
          <a:solidFill>
            <a:srgbClr val="132438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27264" y="3072384"/>
            <a:ext cx="969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52160" y="3602736"/>
            <a:ext cx="969264" cy="457200"/>
          </a:xfrm>
          <a:prstGeom prst="rect">
            <a:avLst/>
          </a:prstGeom>
          <a:solidFill>
            <a:srgbClr val="132438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852160" y="3602736"/>
            <a:ext cx="969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vs Naive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839712" y="3602736"/>
            <a:ext cx="969264" cy="457200"/>
          </a:xfrm>
          <a:prstGeom prst="rect">
            <a:avLst/>
          </a:prstGeom>
          <a:solidFill>
            <a:srgbClr val="132438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39712" y="3602736"/>
            <a:ext cx="969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827264" y="3602736"/>
            <a:ext cx="969264" cy="457200"/>
          </a:xfrm>
          <a:prstGeom prst="rect">
            <a:avLst/>
          </a:prstGeom>
          <a:solidFill>
            <a:srgbClr val="132438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27264" y="3602736"/>
            <a:ext cx="969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852160" y="4133088"/>
            <a:ext cx="969264" cy="457200"/>
          </a:xfrm>
          <a:prstGeom prst="rect">
            <a:avLst/>
          </a:prstGeom>
          <a:solidFill>
            <a:srgbClr val="132438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852160" y="4133088"/>
            <a:ext cx="969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vs Adv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39712" y="4133088"/>
            <a:ext cx="969264" cy="457200"/>
          </a:xfrm>
          <a:prstGeom prst="rect">
            <a:avLst/>
          </a:prstGeom>
          <a:solidFill>
            <a:srgbClr val="132438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839712" y="4133088"/>
            <a:ext cx="969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0.608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827264" y="4133088"/>
            <a:ext cx="969264" cy="457200"/>
          </a:xfrm>
          <a:prstGeom prst="rect">
            <a:avLst/>
          </a:prstGeom>
          <a:solidFill>
            <a:srgbClr val="132438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827264" y="4133088"/>
            <a:ext cx="969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n.s.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925312" y="4645152"/>
            <a:ext cx="2798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Distribution (all 100 queries):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5852160" y="4864608"/>
            <a:ext cx="713232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852160" y="486460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≥0.80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700" dirty="0"/>
          </a:p>
        </p:txBody>
      </p:sp>
      <p:sp>
        <p:nvSpPr>
          <p:cNvPr id="50" name="Shape 47"/>
          <p:cNvSpPr/>
          <p:nvPr/>
        </p:nvSpPr>
        <p:spPr>
          <a:xfrm>
            <a:off x="6611112" y="4864608"/>
            <a:ext cx="71323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611112" y="486460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0.70–0.80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700" dirty="0"/>
          </a:p>
        </p:txBody>
      </p:sp>
      <p:sp>
        <p:nvSpPr>
          <p:cNvPr id="52" name="Shape 49"/>
          <p:cNvSpPr/>
          <p:nvPr/>
        </p:nvSpPr>
        <p:spPr>
          <a:xfrm>
            <a:off x="7370064" y="4864608"/>
            <a:ext cx="71323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370064" y="486460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0.60–0.70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700" dirty="0"/>
          </a:p>
        </p:txBody>
      </p:sp>
      <p:sp>
        <p:nvSpPr>
          <p:cNvPr id="54" name="Shape 51"/>
          <p:cNvSpPr/>
          <p:nvPr/>
        </p:nvSpPr>
        <p:spPr>
          <a:xfrm>
            <a:off x="8129016" y="4864608"/>
            <a:ext cx="713232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129016" y="486460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&lt;0.60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 Quality &amp; Failure Case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2608" y="713232"/>
            <a:ext cx="5074920" cy="2926080"/>
          </a:xfrm>
          <a:prstGeom prst="rect">
            <a:avLst/>
          </a:prstGeom>
          <a:solidFill>
            <a:srgbClr val="132438"/>
          </a:solidFill>
          <a:ln w="190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77724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— Naive RAG N01  (Agg = 0.684)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6984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"How should we handle spear-phishing in a mid-sized enterprise?"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347472" cy="320040"/>
          </a:xfrm>
          <a:prstGeom prst="roundRect">
            <a:avLst>
              <a:gd name="adj" fmla="val 22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8988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38988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tiered email security: SEG + cloud platform + EDR.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170992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(NIST SP 800-61r2)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2048256"/>
            <a:ext cx="347472" cy="320040"/>
          </a:xfrm>
          <a:prstGeom prst="roundRect">
            <a:avLst>
              <a:gd name="adj" fmla="val 22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4825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41248" y="204825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DMARC at p=reject for all owned domains.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1248" y="236829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(NIST SP 800-61r2)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2706624"/>
            <a:ext cx="347472" cy="320040"/>
          </a:xfrm>
          <a:prstGeom prst="roundRect">
            <a:avLst>
              <a:gd name="adj" fmla="val 22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0662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1248" y="270662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phishing response team; integrate IOCs from ISACs within 15 min.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" y="302666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(NIST SP 800-61r2)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38328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query: A32 Advanced RAG  →  Agg = 0.880  (ISO 27001 Clause 6 precision)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59552" y="713232"/>
            <a:ext cx="3291840" cy="2926080"/>
          </a:xfrm>
          <a:prstGeom prst="rect">
            <a:avLst/>
          </a:prstGeom>
          <a:solidFill>
            <a:srgbClr val="132438"/>
          </a:solidFill>
          <a:ln w="1905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0" y="77724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Cases  (F &lt; 0.55)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0" y="1069848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100 queries = 93% pass rate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50992" y="1371600"/>
            <a:ext cx="54864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137160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KB Coverage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1627632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M31 (F=0.423), M29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grounding passages for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SME/cost queries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50992" y="2121408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212140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 Synthesis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0" y="237744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A02, M23, N31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DKIM rotation spans IETF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6376 + vendor practice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50992" y="2871216"/>
            <a:ext cx="54864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2871216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Niche/Emerging Topics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60720" y="3127248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N26 whaling, A26 BIMI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KB coverage →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extrapolates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92608" y="3767328"/>
            <a:ext cx="8558784" cy="777240"/>
          </a:xfrm>
          <a:prstGeom prst="rect">
            <a:avLst/>
          </a:prstGeom>
          <a:solidFill>
            <a:srgbClr val="132438"/>
          </a:solidFill>
          <a:ln w="1524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" y="38404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691640" y="3822192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 → +37.6% CR  |  Modular RAG: 5.7× latency, no extra benefit (p=0.608)  |  Advanced RAG = optimal choice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Ethics, Limitations &amp; Future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83464" y="749808"/>
            <a:ext cx="2743200" cy="4041648"/>
          </a:xfrm>
          <a:prstGeom prst="rect">
            <a:avLst/>
          </a:prstGeom>
          <a:solidFill>
            <a:srgbClr val="132438"/>
          </a:solidFill>
          <a:ln w="1524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229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Ethics (NIST AI RMF)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149047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enterprises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speaking regions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M31 (F=0.423)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203704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CVEs go out of date fast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60290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712636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can insert false CVE IDs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1729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Governance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42900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Low risk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Medium risk</a:t>
            </a:r>
            <a:endParaRPr lang="en-US" sz="950" dirty="0"/>
          </a:p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3: High risk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18688" y="749808"/>
            <a:ext cx="2743200" cy="4041648"/>
          </a:xfrm>
          <a:prstGeom prst="rect">
            <a:avLst/>
          </a:prstGeom>
          <a:solidFill>
            <a:srgbClr val="132438"/>
          </a:solidFill>
          <a:ln w="1524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37560" y="8229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12344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749040" y="123444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23844" y="1279033"/>
            <a:ext cx="320040" cy="27432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285171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L1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735324" y="114300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quantisation introduces calibration error on complex queries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37560" y="1801368"/>
            <a:ext cx="320040" cy="27432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3844" y="1809009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L2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735324" y="169164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FAISS index — can't reflect new CVEs or ATT&amp;CK updates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2454412"/>
            <a:ext cx="320040" cy="27432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45973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L3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735324" y="231543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 KB — excludes non-English practitioners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3084909"/>
            <a:ext cx="320040" cy="274320"/>
          </a:xfrm>
          <a:prstGeom prst="roundRect">
            <a:avLst>
              <a:gd name="adj" fmla="val 289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3084909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L4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735324" y="306086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imbalance — cybersecurity_instruction = 29.8%; phishing subcategories &lt;1% each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44768" y="749808"/>
            <a:ext cx="2743200" cy="4041648"/>
          </a:xfrm>
          <a:prstGeom prst="rect">
            <a:avLst/>
          </a:prstGeom>
          <a:solidFill>
            <a:srgbClr val="132438"/>
          </a:solidFill>
          <a:ln w="15240">
            <a:solidFill>
              <a:srgbClr val="5EEAD4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63640" y="8229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Directions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0" y="1234440"/>
            <a:ext cx="320040" cy="274320"/>
          </a:xfrm>
          <a:prstGeom prst="roundRect">
            <a:avLst>
              <a:gd name="adj" fmla="val 26667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12344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F1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675120" y="12344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75120" y="149047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retrieval with [IsREL]/[IsSUP] reflection tokens (+8–12pp F)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63640" y="1947672"/>
            <a:ext cx="320040" cy="274320"/>
          </a:xfrm>
          <a:prstGeom prst="roundRect">
            <a:avLst>
              <a:gd name="adj" fmla="val 26667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1947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F2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675120" y="19476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75120" y="220370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knowledge graph for multi-hop ATT&amp;CK reasoning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63640" y="2660904"/>
            <a:ext cx="320040" cy="274320"/>
          </a:xfrm>
          <a:prstGeom prst="roundRect">
            <a:avLst>
              <a:gd name="adj" fmla="val 26667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26609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F3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675120" y="26609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CVE Feed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75120" y="291693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FAISS updates from NVD/ATT&amp;CK streams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63640" y="3374136"/>
            <a:ext cx="320040" cy="274320"/>
          </a:xfrm>
          <a:prstGeom prst="roundRect">
            <a:avLst>
              <a:gd name="adj" fmla="val 26667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337413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F4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675120" y="33741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KB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675120" y="363016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Helsinki-NLP OPUS-MT translation to top 5 languages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63640" y="4087368"/>
            <a:ext cx="320040" cy="274320"/>
          </a:xfrm>
          <a:prstGeom prst="roundRect">
            <a:avLst>
              <a:gd name="adj" fmla="val 26667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63640" y="40873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F5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675120" y="408736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Rebalancing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675120" y="43434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phishing-specific categories to ≥15% of KB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92608" y="841248"/>
            <a:ext cx="8558784" cy="914400"/>
          </a:xfrm>
          <a:prstGeom prst="rect">
            <a:avLst/>
          </a:prstGeom>
          <a:solidFill>
            <a:srgbClr val="132438"/>
          </a:solidFill>
          <a:ln w="190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32688"/>
            <a:ext cx="594360" cy="320040"/>
          </a:xfrm>
          <a:prstGeom prst="roundRect">
            <a:avLst>
              <a:gd name="adj" fmla="val 22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3268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RQ1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" y="896112"/>
            <a:ext cx="7607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RAG achieves highest aggregate (0.787) via 37.6% CR improvement. Cross-encoder re-ranking is the dominant driver. Faithfulness (0.646–0.670) is stable — LLM generation is the bottleneck.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" y="1920240"/>
            <a:ext cx="8558784" cy="914400"/>
          </a:xfrm>
          <a:prstGeom prst="rect">
            <a:avLst/>
          </a:prstGeom>
          <a:solidFill>
            <a:srgbClr val="132438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011680"/>
            <a:ext cx="59436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116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RQ2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" y="1975104"/>
            <a:ext cx="7607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&amp; Modular RAG both significantly outperform Naive (p&lt;0.001, p=0.001). Modular vs Advanced = NOT significant (p=0.608). Re-ranking alone captures the available precision gains.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" y="2999232"/>
            <a:ext cx="2697480" cy="1207008"/>
          </a:xfrm>
          <a:prstGeom prst="rect">
            <a:avLst/>
          </a:prstGeom>
          <a:solidFill>
            <a:srgbClr val="132438"/>
          </a:solidFill>
          <a:ln w="1905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2608" y="30632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92608" y="367588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above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 threshold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53914" y="2961653"/>
            <a:ext cx="2697480" cy="1207008"/>
          </a:xfrm>
          <a:prstGeom prst="rect">
            <a:avLst/>
          </a:prstGeom>
          <a:solidFill>
            <a:srgbClr val="132438"/>
          </a:solidFill>
          <a:ln w="190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62470" y="3030171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062470" y="3601733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08192" y="30632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108192" y="367588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92608" y="4343400"/>
            <a:ext cx="8558784" cy="0"/>
          </a:xfrm>
          <a:prstGeom prst="line">
            <a:avLst/>
          </a:prstGeom>
          <a:noFill/>
          <a:ln w="1016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4462272"/>
            <a:ext cx="8558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RAG can deliver consistent, source-grounded cybersecurity advisory — open-source, reproducible, and deployable on free-tier GPUs.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92608" y="685800"/>
            <a:ext cx="429768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Lewis et al. (2020). Retrieval-augmented generation for knowledge-intensive NLP tasks. NeurIPS.</a:t>
            </a:r>
            <a:endParaRPr lang="en-US" sz="88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Gao et al. (2023). Retrieval-augmented generation for LLMs: A survey. arXiv:2312.10997.</a:t>
            </a:r>
            <a:endParaRPr lang="en-US" sz="88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Gao et al. (2022). Precise zero-shot dense retrieval without relevance labels (HyDE). arXiv:2212.10496.</a:t>
            </a:r>
            <a:endParaRPr lang="en-US" sz="88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Cormack, Clarke &amp; Buettcher (2009). Reciprocal rank fusion outperforms Condorcet. ACM SIGIR.</a:t>
            </a:r>
            <a:endParaRPr lang="en-US" sz="88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Nogueira &amp; Cho (2019). Passage re-ranking with BERT. arXiv:1901.04085.</a:t>
            </a:r>
            <a:endParaRPr lang="en-US" sz="88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Es et al. (2024). RAGAS: Automated evaluation of retrieval augmented generation. EACL.</a:t>
            </a:r>
            <a:endParaRPr lang="en-US" sz="88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Reimers &amp; Gurevych (2019). Sentence-BERT: Sentence embeddings using Siamese BERT-networks. EMNLP.</a:t>
            </a:r>
            <a:endParaRPr lang="en-US" sz="88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Robertson &amp; Zaragoza (2009). The probabilistic relevance framework: BM25 and beyond. FTIR.</a:t>
            </a:r>
            <a:endParaRPr lang="en-US" sz="88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Jiang et al. (2023). Mistral 7B. arXiv:2310.06825.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4773168" y="685800"/>
            <a:ext cx="411480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Dettmers et al. (2023). QLoRA: Efficient finetuning of quantized LLMs. NeurIPS.</a:t>
            </a:r>
            <a:endParaRPr lang="en-US" sz="88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Zhang &amp; Zeng (2023). SecQA: A concise QA dataset for cybersecurity evaluation. arXiv:2312.15838.</a:t>
            </a:r>
            <a:endParaRPr lang="en-US" sz="88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Kiraz (2025). Cybersecurity Defense Training Dataset. Hugging Face.</a:t>
            </a:r>
            <a:endParaRPr lang="en-US" sz="88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Zhao et al. (2025). CyberBOT: Towards reliable cybersecurity education via ontology-grounded RAG. arXiv.</a:t>
            </a:r>
            <a:endParaRPr lang="en-US" sz="88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Blefari et al. (2025). CyberRAG: An agentic RAG cyber-attack classification tool. arXiv.</a:t>
            </a:r>
            <a:endParaRPr lang="en-US" sz="88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 NIST (2023). AI Risk Management Framework (AI RMF 1.0). NIST AI 100-1.</a:t>
            </a:r>
            <a:endParaRPr lang="en-US" sz="88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 Asai et al. (2023). Self-RAG: Learning to retrieve, generate, and critique. arXiv:2310.11511.</a:t>
            </a:r>
            <a:endParaRPr lang="en-US" sz="88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 Edge et al. (2024). From local to global: A graph RAG approach. arXiv:2404.16130.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1055</TotalTime>
  <Words>1600</Words>
  <Application>Microsoft Office PowerPoint</Application>
  <PresentationFormat>On-screen Show (16:9)</PresentationFormat>
  <Paragraphs>272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Cybersecurity Advisory System</dc:title>
  <dc:subject>PptxGenJS Presentation</dc:subject>
  <dc:creator>PptxGenJS</dc:creator>
  <cp:lastModifiedBy>jaden machado</cp:lastModifiedBy>
  <cp:revision>14</cp:revision>
  <dcterms:created xsi:type="dcterms:W3CDTF">2026-05-23T14:54:18Z</dcterms:created>
  <dcterms:modified xsi:type="dcterms:W3CDTF">2026-05-25T13:08:56Z</dcterms:modified>
</cp:coreProperties>
</file>